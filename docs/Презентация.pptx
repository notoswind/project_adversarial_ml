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Итеративный состязательный атакователь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ML-модели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через состязательное обучение (adversarial training)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4069080"/>
            <a:ext cx="457200" cy="457200"/>
          </a:xfrm>
          <a:prstGeom prst="rect">
            <a:avLst/>
          </a:prstGeom>
          <a:solidFill>
            <a:srgbClr val="1FA971"/>
          </a:solidFill>
          <a:ln/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 ↔  защита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деятельность · Прикладная математика и информатика ·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[ФИО студента]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Проблема: состязательные примеры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нейросети уязвимы: крошечное, незаметное глазу возмущение входа заставляет модель ошибаться с высокой уверенностью.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128016" cy="2468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6060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Незаметно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Возмущение ‖δ‖∞ ≤ ε визуально неотличимо от оригинала.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1104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1104" y="2286000"/>
            <a:ext cx="128016" cy="246888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1144" y="2606040"/>
            <a:ext cx="566928" cy="566928"/>
          </a:xfrm>
          <a:prstGeom prst="ellipse">
            <a:avLst/>
          </a:prstGeom>
          <a:solidFill>
            <a:srgbClr val="E6A817"/>
          </a:solidFill>
          <a:ln/>
        </p:spPr>
      </p:sp>
      <p:sp>
        <p:nvSpPr>
          <p:cNvPr id="16" name="Text 14"/>
          <p:cNvSpPr/>
          <p:nvPr/>
        </p:nvSpPr>
        <p:spPr>
          <a:xfrm>
            <a:off x="458114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81144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Опасно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81144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Угроза для распознавания знаков, биометрии, медицины.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3568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73568" y="2286000"/>
            <a:ext cx="128016" cy="2468880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93608" y="2606040"/>
            <a:ext cx="566928" cy="566928"/>
          </a:xfrm>
          <a:prstGeom prst="ellipse">
            <a:avLst/>
          </a:prstGeom>
          <a:solidFill>
            <a:srgbClr val="1B2E57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0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93608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Универсально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93608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Уязвимы практически все глубокие модели.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0E1E40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итеративный «атакователь» ML-модели и показать эффективность состязательного обучения как защиты за 10 итераций цикла «атака — защита».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6336792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базовую CNN на MNIST;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атакователь на ART (FGSM, PGD);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защиту — состязательное обучение;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оркестрировать цикл на 10 итераций с метриками;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визуализировать результаты;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экспортировать устойчивую модель в ONNX.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состязательный пример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пример</a:t>
            </a:r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вход x' = x + δ, визуально неотличимый от исходного (‖δ‖∞ ≤ ε), но классифицируемый моделью неверно.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3687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687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43687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8556" y="3017520"/>
            <a:ext cx="640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08863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863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8863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возмущение (шум)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00316" y="3017520"/>
            <a:ext cx="640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74039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4039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x′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774039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обман модели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(Goodfellow, 2014): сдвиг входа на ε вдоль знака градиента ∇ₓ J(θ, x, y).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Атаки из ART: FGSM и PGD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166360" cy="640080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FGSM — одношаговая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x + ε·sign(∇ₓ J)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по градиенту;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быстрая, но относительно слабая;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для понимания атак.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1463040"/>
            <a:ext cx="5166360" cy="6400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PGD — итеративная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xᵗ⁺¹ = Proj(xᵗ + α·sign(∇ₓ J))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шагов с проекцией на ε-окрестность;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«сильнейшая атака первого порядка»;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для оценки устойчивости.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Защита: состязательное обучение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Состязательное обучение</a:t>
            </a:r>
            <a:pPr indent="0" marL="0">
              <a:buNone/>
            </a:pPr>
            <a:r>
              <a:rPr lang="en-US" sz="17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(Madry, 2017) — дообучение модели на состязательных примерах. Минимаксная задача: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E1E40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402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 E(x,y) [ max(‖δ‖∞ ≤ ε)  J(θ, x + δ, y) 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657600"/>
            <a:ext cx="347472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Внутренний max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приближается атакой PGD — ищем худшее возмущение.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1104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1104" y="3657600"/>
            <a:ext cx="3474720" cy="109728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15" name="Text 13"/>
          <p:cNvSpPr/>
          <p:nvPr/>
        </p:nvSpPr>
        <p:spPr>
          <a:xfrm>
            <a:off x="4535424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Внешний 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шаг оптимизации — учим модель не поддаваться.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73568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73568" y="3657600"/>
            <a:ext cx="347472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деталь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7888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генерируются заново для каждого батча (см. слайд 12).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и модель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— MNIST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изображений рукописных цифр 28×28;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градации серого, значения в [0, 1];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— обучение, 10 000 — тест;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средствами ART (load_mnist).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4630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— CNN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1×28×28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852928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32 + ReLU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419856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4198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64 + ReLU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8678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986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 + Dropout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553712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553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+ ReLU + Dropout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51206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FA97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10 (логиты)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точность ≈ 98.8 %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Итеративный цикл «атака ↔ защита»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468880" cy="109728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(.pt)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как файл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685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703320" y="20116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2011680"/>
            <a:ext cx="274320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Атака PGD (ART)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8620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↓ (до 2 %)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685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2011680"/>
            <a:ext cx="3063240" cy="109728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3317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Состязательное обучение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3063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↑ (до 92 %)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0E1E40"/>
          </a:solidFill>
          <a:ln/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297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Повторяется 10 итераций.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— фиксированной атакой PGD. Устойчивость растёт </a:t>
            </a:r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 → 92 %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 модели: PyTorch .pt (pickle) на входе · экспорт устойчивой модели в ONNX.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динамика по итерациям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2E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98.8 %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чистом тесте (стабильна)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2.0 %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858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под PGD у базовой модели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A9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92.3 %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5321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под PGD после 10 итераций защиты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48072" y="1536192"/>
            <a:ext cx="61264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pic>
        <p:nvPicPr>
          <p:cNvPr id="13" name="Image 0" descr="C:\Users\Kaiba\Desktop\study\project_attack_llm\results\figures\accuracy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600200"/>
            <a:ext cx="5998464" cy="3749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2080" y="5394960"/>
            <a:ext cx="5998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итерациям: атака ↔ защита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одно возмущение — два исхода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PGD-возмущение обманывает базовую модель (красное), но не устойчивую (зелёное).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11096" y="1719072"/>
            <a:ext cx="836584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pic>
        <p:nvPicPr>
          <p:cNvPr id="8" name="Image 0" descr="C:\Users\Kaiba\Desktop\study\project_attack_llm\results\figures\adv_examples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783080"/>
            <a:ext cx="82378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устойчивость и успех атаки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673352"/>
            <a:ext cx="5102352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pic>
        <p:nvPicPr>
          <p:cNvPr id="7" name="Image 0" descr="C:\Users\Kaiba\Desktop\study\project_attack_llm\results\figures\epsilon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974336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89204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от силы атаки 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36792" y="1673352"/>
            <a:ext cx="5102352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pic>
        <p:nvPicPr>
          <p:cNvPr id="10" name="Image 1" descr="C:\Users\Kaiba\Desktop\study\project_attack_llm\results\figures\attack_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974336" cy="3108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489204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 атаки PGD по итерациям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Устойчивая модель превосходит базовую при всех ε; успех атаки PGD упал с </a:t>
            </a:r>
            <a:pPr algn="ctr" indent="0" marL="0">
              <a:buNone/>
            </a:pP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 до 8 %</a:t>
            </a:r>
            <a:pPr algn="ctr" indent="0" marL="0">
              <a:buNone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Важная находка: адаптивность атаки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защиты определяется не фактом обучения «на adversarial-данных», а адаптивностью атаки при обучении.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5166360" cy="6400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Генерация 1× за итерацию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строится по фиксированной подвыборке;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«запоминает» возмущения;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робастность не растёт (≈ 1–12 %).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94560"/>
            <a:ext cx="5376672" cy="640080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Генерация per-batch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строится заново для каждого батча;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текущих весов модели;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робастность растёт: 2 % → 80 % → 92 %.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PGD снижает точность базовой модели с 98.8 % до 2.0 % (успех 98 %);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состязательное обучение за 10 итераций поднимает устойчивость к PGD до 92.3 %;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чистых данных при этом сохраняется (~98.7 %);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устойчивая модель превосходит базовую при всех значениях ε;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модель экспортирована в ONNX (расхождение с PyTorch ~10⁻⁵);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к работающей защите — адаптивная (per-batch) генерация примеров.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54864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Вопросы?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Итеративный состязательный атакователь ML-модели · ART · adversarial training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Итеративный состязательный атакователь ML-модели</dc:title>
  <dc:subject>PptxGenJS Presentation</dc:subject>
  <dc:creator>Проектная деятельность</dc:creator>
  <cp:lastModifiedBy>Проектная деятельность</cp:lastModifiedBy>
  <cp:revision>1</cp:revision>
  <dcterms:created xsi:type="dcterms:W3CDTF">2026-06-04T01:01:26Z</dcterms:created>
  <dcterms:modified xsi:type="dcterms:W3CDTF">2026-06-04T01:01:26Z</dcterms:modified>
</cp:coreProperties>
</file>